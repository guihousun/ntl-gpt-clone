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NTL-GPT 项目完整介绍</a:t>
            </a:r>
          </a:p>
          <a:p>
            <a:pPr algn="l"/>
            <a:r>
              <a:rPr sz="2400" b="0">
                <a:solidFill>
                  <a:srgbClr val="CDE0FF"/>
                </a:solidFill>
                <a:latin typeface="Calibri"/>
              </a:rPr>
              <a:t>Nighttime Light Multi-Agent Geospatial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版本日期：2026-02-08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项目形态：LangGraph Supervisor + Streamlit + Geospatial Toolchain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汇报目标：系统说明、能力展示、实证结果、演进路线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1. 项目定位与价值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212529"/>
                </a:solidFill>
                <a:latin typeface="Microsoft YaHei"/>
              </a:rPr>
              <a:t>NTL-GPT（数字星眸）面向夜间灯光遥感（NTL）城市分析，目标是将复杂流程升级为一句话驱动的自动化工作流。</a:t>
            </a:r>
          </a:p>
          <a:p>
            <a:pPr algn="l"/>
            <a:r>
              <a:rPr sz="2000" b="0">
                <a:solidFill>
                  <a:srgbClr val="212529"/>
                </a:solidFill>
                <a:latin typeface="Microsoft YaHei"/>
              </a:rPr>
              <a:t>聚焦城市治理与科研：支持从影像获取、边界确认、指标计算到成果文件输出的端到端执行。</a:t>
            </a:r>
          </a:p>
          <a:p>
            <a:pPr algn="l"/>
            <a:r>
              <a:rPr sz="2000" b="0">
                <a:solidFill>
                  <a:srgbClr val="212529"/>
                </a:solidFill>
                <a:latin typeface="Microsoft YaHei"/>
              </a:rPr>
              <a:t>强调工程可用性：结果可追溯、流程可复现、执行可验证。</a:t>
            </a:r>
          </a:p>
          <a:p>
            <a:pPr algn="l"/>
            <a:r>
              <a:rPr sz="2000" b="0">
                <a:solidFill>
                  <a:srgbClr val="212529"/>
                </a:solidFill>
                <a:latin typeface="Microsoft YaHei"/>
              </a:rPr>
              <a:t>通过多智能体协作降低复杂任务失败率，减少幻觉与误操作风险。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657600" cy="4206240"/>
          </a:xfrm>
          <a:prstGeom prst="roundRect">
            <a:avLst/>
          </a:prstGeom>
          <a:solidFill>
            <a:srgbClr val="E5F0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0D1B3F"/>
                </a:solidFill>
                <a:latin typeface="Microsoft YaHei"/>
              </a:rPr>
              <a:t>核心价值</a:t>
            </a:r>
          </a:p>
          <a:p>
            <a:pPr algn="l"/>
            <a:r>
              <a:rPr sz="1800" b="0">
                <a:solidFill>
                  <a:srgbClr val="0D1B3F"/>
                </a:solidFill>
                <a:latin typeface="Microsoft YaHei"/>
              </a:rPr>
              <a:t>领域知识 + 智能体协作 +</a:t>
            </a:r>
          </a:p>
          <a:p>
            <a:pPr algn="l"/>
            <a:r>
              <a:rPr sz="1800" b="0">
                <a:solidFill>
                  <a:srgbClr val="0D1B3F"/>
                </a:solidFill>
                <a:latin typeface="Microsoft YaHei"/>
              </a:rPr>
              <a:t>可执行地理工具链</a:t>
            </a:r>
          </a:p>
          <a:p>
            <a:pPr algn="l"/>
            <a:r>
              <a:rPr sz="1800" b="0">
                <a:solidFill>
                  <a:srgbClr val="0D1B3F"/>
                </a:solidFill>
                <a:latin typeface="Microsoft YaHei"/>
              </a:rPr>
              <a:t>=&gt; 稳定的 NTL 分析工程系统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2. 目标问题：为什么需要 NTL-GPT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4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731520"/>
          </a:xfrm>
          <a:prstGeom prst="rect">
            <a:avLst/>
          </a:prstGeom>
          <a:solidFill>
            <a:srgbClr val="D04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领域知识缺口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通用地理代理缺少 NTL 专项预处理与方法学知识，易产生流程偏差。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09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474720" cy="731520"/>
          </a:xfrm>
          <a:prstGeom prst="rect">
            <a:avLst/>
          </a:prstGeom>
          <a:solidFill>
            <a:srgbClr val="F0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复杂任务成功率不足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7744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单智能体在多步骤分析、代码生成与调试中易出错，复杂场景可靠性下降。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630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463040"/>
            <a:ext cx="347472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云平台接入不足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7744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现有方案常依赖本地文件，难以直接调用 GEE 等云端数据实现端到端自动化。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3. 系统总体架构（分层）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6766560" cy="713232"/>
          </a:xfrm>
          <a:prstGeom prst="roundRect">
            <a:avLst/>
          </a:prstGeom>
          <a:solidFill>
            <a:srgbClr val="DFF2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D1B3F"/>
                </a:solidFill>
                <a:latin typeface="Microsoft YaHei"/>
              </a:rPr>
              <a:t>UI 层: Streamlit.py / app_ui.py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766560" cy="713232"/>
          </a:xfrm>
          <a:prstGeom prst="roundRect">
            <a:avLst/>
          </a:prstGeom>
          <a:solidFill>
            <a:srgbClr val="D2ECFD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D1B3F"/>
                </a:solidFill>
                <a:latin typeface="Microsoft YaHei"/>
              </a:rPr>
              <a:t>编排层: app_agents.py / LangGraph 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6766560" cy="713232"/>
          </a:xfrm>
          <a:prstGeom prst="roundRect">
            <a:avLst/>
          </a:prstGeom>
          <a:solidFill>
            <a:srgbClr val="C5E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D1B3F"/>
                </a:solidFill>
                <a:latin typeface="Microsoft YaHei"/>
              </a:rPr>
              <a:t>智能体层: NTL_Engineer | Data_Searcher | Code_Assistant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6766560" cy="713232"/>
          </a:xfrm>
          <a:prstGeom prst="roundRect">
            <a:avLst/>
          </a:prstGeom>
          <a:solidFill>
            <a:srgbClr val="B6DF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D1B3F"/>
                </a:solidFill>
                <a:latin typeface="Microsoft YaHei"/>
              </a:rPr>
              <a:t>工具层: tools/*.py StructuredTool + GEE/Geo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83480"/>
            <a:ext cx="6766560" cy="713232"/>
          </a:xfrm>
          <a:prstGeom prst="roundRect">
            <a:avLst/>
          </a:prstGeom>
          <a:solidFill>
            <a:srgbClr val="A6D6F4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4807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D1B3F"/>
                </a:solidFill>
                <a:latin typeface="Microsoft YaHei"/>
              </a:rPr>
              <a:t>存储层: storage_manager + user_data/&lt;thread_id&gt;/inputs|outputs</a:t>
            </a:r>
          </a:p>
        </p:txBody>
      </p:sp>
      <p:pic>
        <p:nvPicPr>
          <p:cNvPr id="15" name="Picture 14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840480" cy="13544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26679" y="5577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86069"/>
                </a:solidFill>
                <a:latin typeface="Microsoft YaHei"/>
              </a:rPr>
              <a:t>论文图示（架构相关）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4. 三智能体职责分工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66160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NTL_Engineer（主智能体）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3200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需求拆解与任务规划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工具路由与边界复核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监督执行与结果汇总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0A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3566160" cy="777240"/>
          </a:xfrm>
          <a:prstGeom prst="rect">
            <a:avLst/>
          </a:prstGeom>
          <a:solidFill>
            <a:srgbClr val="20A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276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Data_Searcher（数据助手）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200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检索 GEE / OSM / Amap / Tavily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输出结构化元数据与数据计划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GEE 专项能力已并入此智能体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71600"/>
            <a:ext cx="35661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9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566160" cy="777240"/>
          </a:xfrm>
          <a:prstGeom prst="rect">
            <a:avLst/>
          </a:prstGeom>
          <a:solidFill>
            <a:srgbClr val="F0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2763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Code_Assistant（代码助手）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331720"/>
            <a:ext cx="3200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执行 Geo-CodeCoT v2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分块验证 + 整段执行</a:t>
            </a:r>
          </a:p>
          <a:p>
            <a:pPr algn="l"/>
            <a:r>
              <a:rPr sz="1500" b="0">
                <a:solidFill>
                  <a:srgbClr val="212529"/>
                </a:solidFill>
                <a:latin typeface="Microsoft YaHei"/>
              </a:rPr>
              <a:t>仅写 outputs，不改仓库源码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5. 控制流与数据流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46304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用户请求 -&gt; NTL_Engineer 进行知识与时空约束审查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97880" y="2103120"/>
            <a:ext cx="411480" cy="274320"/>
          </a:xfrm>
          <a:prstGeom prst="downArrow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51460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243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8775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派发 Data_Searcher 获取数据 / 生成 GEE 执行方案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7880" y="3154680"/>
            <a:ext cx="411480" cy="274320"/>
          </a:xfrm>
          <a:prstGeom prst="downArrow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474720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675887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派发 Code_Assistant 依据 Geo-CodeCoT v2 验证与执行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97880" y="4206240"/>
            <a:ext cx="411480" cy="274320"/>
          </a:xfrm>
          <a:prstGeom prst="downArrow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526279"/>
            <a:ext cx="106070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4617719"/>
            <a:ext cx="502920" cy="5029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727447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90871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结果回收 -&gt; NTL_Engineer 汇总结论并输出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69280"/>
            <a:ext cx="10607040" cy="731520"/>
          </a:xfrm>
          <a:prstGeom prst="roundRect">
            <a:avLst/>
          </a:prstGeom>
          <a:solidFill>
            <a:srgbClr val="E5F3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8521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Microsoft YaHei"/>
              </a:rPr>
              <a:t>数据流统一协议：inputs/base_data -&gt; 结构化 JSON 协作 -&gt; outputs（会话隔离、可审计、可回放）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6. 准确性与安全性约束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12529"/>
                </a:solidFill>
                <a:latin typeface="Microsoft YaHei"/>
              </a:rPr>
              <a:t>行政边界强约束：命名行政区不可替换为自造 bbox；边界需附来源工具、CRS、bounds、validation_status。</a:t>
            </a:r>
          </a:p>
          <a:p>
            <a:pPr algn="l"/>
            <a:r>
              <a:rPr sz="1800" b="0">
                <a:solidFill>
                  <a:srgbClr val="212529"/>
                </a:solidFill>
                <a:latin typeface="Microsoft YaHei"/>
              </a:rPr>
              <a:t>职责边界清晰：Data_Searcher 不做最终执行；Code_Assistant 不改源码，仅测试执行并写 outputs。</a:t>
            </a:r>
          </a:p>
          <a:p>
            <a:pPr algn="l"/>
            <a:r>
              <a:rPr sz="1800" b="0">
                <a:solidFill>
                  <a:srgbClr val="212529"/>
                </a:solidFill>
                <a:latin typeface="Microsoft YaHei"/>
              </a:rPr>
              <a:t>路径治理统一：通过 storage_manager 管理线程工作区，避免硬编码绝对路径。</a:t>
            </a:r>
          </a:p>
          <a:p>
            <a:pPr algn="l"/>
            <a:r>
              <a:rPr sz="1800" b="0">
                <a:solidFill>
                  <a:srgbClr val="212529"/>
                </a:solidFill>
                <a:latin typeface="Microsoft YaHei"/>
              </a:rPr>
              <a:t>失败闭环机制：边界非 confirmed 或验证失败，必须回传 NTL_Engineer 触发重检/重规划。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10972800" cy="868680"/>
          </a:xfrm>
          <a:prstGeom prst="roundRect">
            <a:avLst/>
          </a:prstGeom>
          <a:solidFill>
            <a:srgbClr val="FFEDDC"/>
          </a:solidFill>
          <a:ln>
            <a:solidFill>
              <a:srgbClr val="F09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7150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7A4A0F"/>
                </a:solidFill>
                <a:latin typeface="Microsoft YaHei"/>
              </a:rPr>
              <a:t>工程原则：先验证、后执行；先边界确认、后统计建模。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7. GEE 云端优先工作流（近期增强）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583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GEE_dataset_router_tool：先判定任务时序与执行模式</a:t>
            </a:r>
          </a:p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GEE_script_blueprint_tool：生成 server-side 执行蓝图</a:t>
            </a:r>
          </a:p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GEE_catalog_discovery_tool：候选数据集发现</a:t>
            </a:r>
          </a:p>
          <a:p>
            <a:pPr algn="l"/>
            <a:r>
              <a:rPr sz="1600" b="0">
                <a:solidFill>
                  <a:srgbClr val="212529"/>
                </a:solidFill>
                <a:latin typeface="Microsoft YaHei"/>
              </a:rPr>
              <a:t>GEE_dataset_metadata_tool：元数据双重确认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6583680" cy="1645920"/>
          </a:xfrm>
          <a:prstGeom prst="roundRect">
            <a:avLst/>
          </a:prstGeom>
          <a:solidFill>
            <a:srgbClr val="E1F6EF"/>
          </a:solidFill>
          <a:ln>
            <a:solidFill>
              <a:srgbClr val="20A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27054"/>
                </a:solidFill>
                <a:latin typeface="Microsoft YaHei"/>
              </a:rPr>
              <a:t>策略：云端优先</a:t>
            </a:r>
          </a:p>
          <a:p>
            <a:pPr algn="l"/>
            <a:r>
              <a:rPr sz="1400" b="0">
                <a:solidFill>
                  <a:srgbClr val="127054"/>
                </a:solidFill>
                <a:latin typeface="Microsoft YaHei"/>
              </a:rPr>
              <a:t>当请求 &gt;31 景日尺度或重计算任务时，优先 server-side，避免本地批量下载瓶颈。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8016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657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D1B3F"/>
                </a:solidFill>
                <a:latin typeface="Microsoft YaHei"/>
              </a:rPr>
              <a:t>检索策略升级</a:t>
            </a:r>
          </a:p>
          <a:p>
            <a:pPr algn="l"/>
            <a:r>
              <a:rPr sz="1400" b="0">
                <a:solidFill>
                  <a:srgbClr val="0D1B3F"/>
                </a:solidFill>
                <a:latin typeface="Microsoft YaHei"/>
              </a:rPr>
              <a:t>官方 GEE catalog 索引</a:t>
            </a:r>
          </a:p>
          <a:p>
            <a:pPr algn="l"/>
            <a:r>
              <a:rPr sz="1400" b="0">
                <a:solidFill>
                  <a:srgbClr val="0D1B3F"/>
                </a:solidFill>
                <a:latin typeface="Microsoft YaHei"/>
              </a:rPr>
              <a:t>+ dataset_id/title 词法加权</a:t>
            </a:r>
          </a:p>
          <a:p>
            <a:pPr algn="l"/>
            <a:r>
              <a:rPr sz="1400" b="0">
                <a:solidFill>
                  <a:srgbClr val="0D1B3F"/>
                </a:solidFill>
                <a:latin typeface="Microsoft YaHei"/>
              </a:rPr>
              <a:t>+ metadata 校验</a:t>
            </a:r>
          </a:p>
          <a:p>
            <a:pPr algn="l"/>
            <a:r>
              <a:rPr sz="1400" b="0">
                <a:solidFill>
                  <a:srgbClr val="0D1B3F"/>
                </a:solidFill>
                <a:latin typeface="Microsoft YaHei"/>
              </a:rPr>
              <a:t>=&gt; 提升真实检索场景召回率与准确性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8. 知识库与工具能力覆盖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100+</a:t>
            </a:r>
          </a:p>
          <a:p>
            <a:pPr algn="l"/>
            <a:r>
              <a:rPr sz="1400" b="0">
                <a:solidFill>
                  <a:srgbClr val="212529"/>
                </a:solidFill>
                <a:latin typeface="Microsoft YaHei"/>
              </a:rPr>
              <a:t>近十年 NTL 核心文献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18</a:t>
            </a:r>
          </a:p>
          <a:p>
            <a:pPr algn="l"/>
            <a:r>
              <a:rPr sz="1400" b="0">
                <a:solidFill>
                  <a:srgbClr val="212529"/>
                </a:solidFill>
                <a:latin typeface="Microsoft YaHei"/>
              </a:rPr>
              <a:t>GeoPandas 官方教程资源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78308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31</a:t>
            </a:r>
          </a:p>
          <a:p>
            <a:pPr algn="l"/>
            <a:r>
              <a:rPr sz="1400" b="0">
                <a:solidFill>
                  <a:srgbClr val="212529"/>
                </a:solidFill>
                <a:latin typeface="Microsoft YaHei"/>
              </a:rPr>
              <a:t>Rasterio 文档与案例资源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116</a:t>
            </a:r>
          </a:p>
          <a:p>
            <a:pPr algn="l"/>
            <a:r>
              <a:rPr sz="1400" b="0">
                <a:solidFill>
                  <a:srgbClr val="212529"/>
                </a:solidFill>
                <a:latin typeface="Microsoft YaHei"/>
              </a:rPr>
              <a:t>GEE 示例脚本资源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  <a:latin typeface="Calibri"/>
              </a:rPr>
              <a:t>633</a:t>
            </a:r>
          </a:p>
          <a:p>
            <a:pPr algn="l"/>
            <a:r>
              <a:rPr sz="1400" b="0">
                <a:solidFill>
                  <a:srgbClr val="212529"/>
                </a:solidFill>
                <a:latin typeface="Microsoft YaHei"/>
              </a:rPr>
              <a:t>GEE Data Catalog 数据集索引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577840"/>
            <a:ext cx="10881360" cy="749808"/>
          </a:xfrm>
          <a:prstGeom prst="roundRect">
            <a:avLst/>
          </a:prstGeom>
          <a:solidFill>
            <a:srgbClr val="E6F2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8815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Microsoft YaHei"/>
              </a:rPr>
              <a:t>标准化流程规则用于决策：何时调用内置工具、何时生成自定义代码、何时混合执行。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9. 典型应用场景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17904"/>
            <a:ext cx="384048" cy="384048"/>
          </a:xfrm>
          <a:prstGeom prst="ellipse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17320" y="1371600"/>
            <a:ext cx="10149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7276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B3F"/>
                </a:solidFill>
                <a:latin typeface="Microsoft YaHei"/>
              </a:rPr>
              <a:t>社会经济估算：GDP、人口、用电、CO2、数字经济指数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88336"/>
            <a:ext cx="384048" cy="384048"/>
          </a:xfrm>
          <a:prstGeom prst="ellipse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17320" y="2542032"/>
            <a:ext cx="10149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B3F"/>
                </a:solidFill>
                <a:latin typeface="Microsoft YaHei"/>
              </a:rPr>
              <a:t>城市空间识别：建成区、道路照明、中心结构与扩张演化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858768"/>
            <a:ext cx="384048" cy="384048"/>
          </a:xfrm>
          <a:prstGeom prst="ellipse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7320" y="3712464"/>
            <a:ext cx="10149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91363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B3F"/>
                </a:solidFill>
                <a:latin typeface="Microsoft YaHei"/>
              </a:rPr>
              <a:t>灾害与事件评估：地震、冲突、公共卫生事件影响分析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29200"/>
            <a:ext cx="384048" cy="384048"/>
          </a:xfrm>
          <a:prstGeom prst="ellipse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4882896"/>
            <a:ext cx="10149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084064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0D1B3F"/>
                </a:solidFill>
                <a:latin typeface="Microsoft YaHei"/>
              </a:rPr>
              <a:t>科研自动化：可复用、可验证、可追踪的地理处理执行链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10. 评测设计（来自 TGRS Manuscript）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4864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评测样本：70 个代表性任务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三类任务：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1) Data retrieval &amp; preprocessing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2) Spatial statistic &amp; querying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3) Application &amp; modelling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模型：gpt-4.1 / qwen-max / gpt-4.1-mini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每个案例最多 3 次尝试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25880"/>
            <a:ext cx="4983480" cy="5303520"/>
          </a:xfrm>
          <a:prstGeom prst="roundRect">
            <a:avLst/>
          </a:prstGeom>
          <a:solidFill>
            <a:srgbClr val="F0F7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00200"/>
            <a:ext cx="45720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D1B3F"/>
                </a:solidFill>
                <a:latin typeface="Microsoft YaHei"/>
              </a:rPr>
              <a:t>核心指标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Success rate：70 任务中成功完成比例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Hallucination frequency：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任一尝试中出现幻觉的案例数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目标：验证多智能体协作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在复杂地理任务中的稳定性与可靠性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11. 性能结果：总体成功率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68580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2240280"/>
            <a:ext cx="4663440" cy="475488"/>
          </a:xfrm>
          <a:prstGeom prst="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240280"/>
            <a:ext cx="4598151" cy="4754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9514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gpt-4.1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951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98.6%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383280"/>
            <a:ext cx="4663440" cy="475488"/>
          </a:xfrm>
          <a:prstGeom prst="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3383280"/>
            <a:ext cx="4528200" cy="475488"/>
          </a:xfrm>
          <a:prstGeom prst="rect">
            <a:avLst/>
          </a:prstGeom>
          <a:solidFill>
            <a:srgbClr val="20A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3814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qwen-max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4381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97.1%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526280"/>
            <a:ext cx="4663440" cy="475488"/>
          </a:xfrm>
          <a:prstGeom prst="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4526280"/>
            <a:ext cx="4397623" cy="475488"/>
          </a:xfrm>
          <a:prstGeom prst="rect">
            <a:avLst/>
          </a:prstGeom>
          <a:solidFill>
            <a:srgbClr val="F09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81144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gpt-4.1-mini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58114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D1B3F"/>
                </a:solidFill>
                <a:latin typeface="Calibri"/>
              </a:rPr>
              <a:t>94.3%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08760"/>
            <a:ext cx="35661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83080"/>
            <a:ext cx="31089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D1B3F"/>
                </a:solidFill>
                <a:latin typeface="Microsoft YaHei"/>
              </a:rPr>
              <a:t>关键观察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gpt-4.1 总体最佳</a:t>
            </a:r>
          </a:p>
          <a:p>
            <a:pPr algn="l"/>
            <a:r>
              <a:rPr sz="1600" b="1">
                <a:solidFill>
                  <a:srgbClr val="0D1B3F"/>
                </a:solidFill>
                <a:latin typeface="Microsoft YaHei"/>
              </a:rPr>
              <a:t>98.6% (69/70)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应用与建模任务中：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gpt-4.1 = 90%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qwen-max = 80%</a:t>
            </a:r>
          </a:p>
          <a:p>
            <a:pPr algn="l"/>
            <a:r>
              <a:rPr sz="1600" b="0">
                <a:solidFill>
                  <a:srgbClr val="0D1B3F"/>
                </a:solidFill>
                <a:latin typeface="Microsoft YaHei"/>
              </a:rPr>
              <a:t>gpt-4.1-mini = 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12. 多智能体对比单智能体（gpt-4.1）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937760" cy="4389120"/>
          </a:xfrm>
          <a:prstGeom prst="roundRect">
            <a:avLst/>
          </a:prstGeom>
          <a:solidFill>
            <a:srgbClr val="FEF3E6"/>
          </a:solidFill>
          <a:ln>
            <a:solidFill>
              <a:srgbClr val="F09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4937760" cy="4389120"/>
          </a:xfrm>
          <a:prstGeom prst="roundRect">
            <a:avLst/>
          </a:prstGeom>
          <a:solidFill>
            <a:srgbClr val="E6F5EE"/>
          </a:solidFill>
          <a:ln>
            <a:solidFill>
              <a:srgbClr val="20A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4389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8460A"/>
                </a:solidFill>
                <a:latin typeface="Microsoft YaHei"/>
              </a:rPr>
              <a:t>单智能体基线</a:t>
            </a:r>
          </a:p>
          <a:p>
            <a:pPr algn="l"/>
            <a:r>
              <a:rPr sz="1700" b="0">
                <a:solidFill>
                  <a:srgbClr val="78460A"/>
                </a:solidFill>
                <a:latin typeface="Microsoft YaHei"/>
              </a:rPr>
              <a:t>复杂任务成功率：70%</a:t>
            </a:r>
          </a:p>
          <a:p>
            <a:pPr algn="l"/>
            <a:r>
              <a:rPr sz="1700" b="0">
                <a:solidFill>
                  <a:srgbClr val="78460A"/>
                </a:solidFill>
                <a:latin typeface="Microsoft YaHei"/>
              </a:rPr>
              <a:t>Hallucination：5</a:t>
            </a:r>
          </a:p>
          <a:p>
            <a:pPr algn="l"/>
            <a:r>
              <a:rPr sz="1700" b="0">
                <a:solidFill>
                  <a:srgbClr val="78460A"/>
                </a:solidFill>
                <a:latin typeface="Microsoft YaHei"/>
              </a:rPr>
              <a:t>容易出现中间步骤遗漏</a:t>
            </a:r>
          </a:p>
          <a:p>
            <a:pPr algn="l"/>
            <a:r>
              <a:rPr sz="1700" b="0">
                <a:solidFill>
                  <a:srgbClr val="78460A"/>
                </a:solidFill>
                <a:latin typeface="Microsoft YaHei"/>
              </a:rPr>
              <a:t>或地理代码静默失败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389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6C53"/>
                </a:solidFill>
                <a:latin typeface="Microsoft YaHei"/>
              </a:rPr>
              <a:t>NTL-GPT 多智能体</a:t>
            </a:r>
          </a:p>
          <a:p>
            <a:pPr algn="l"/>
            <a:r>
              <a:rPr sz="1700" b="0">
                <a:solidFill>
                  <a:srgbClr val="146C53"/>
                </a:solidFill>
                <a:latin typeface="Microsoft YaHei"/>
              </a:rPr>
              <a:t>复杂任务成功率：90%</a:t>
            </a:r>
          </a:p>
          <a:p>
            <a:pPr algn="l"/>
            <a:r>
              <a:rPr sz="1700" b="0">
                <a:solidFill>
                  <a:srgbClr val="146C53"/>
                </a:solidFill>
                <a:latin typeface="Microsoft YaHei"/>
              </a:rPr>
              <a:t>Hallucination：3</a:t>
            </a:r>
          </a:p>
          <a:p>
            <a:pPr algn="l"/>
            <a:r>
              <a:rPr sz="1700" b="1">
                <a:solidFill>
                  <a:srgbClr val="146C53"/>
                </a:solidFill>
                <a:latin typeface="Microsoft YaHei"/>
              </a:rPr>
              <a:t>+20 个百分点成功率</a:t>
            </a:r>
          </a:p>
          <a:p>
            <a:pPr algn="l"/>
            <a:r>
              <a:rPr sz="1700" b="1">
                <a:solidFill>
                  <a:srgbClr val="146C53"/>
                </a:solidFill>
                <a:latin typeface="Microsoft YaHei"/>
              </a:rPr>
              <a:t>-40% 幻觉频次</a:t>
            </a:r>
          </a:p>
        </p:txBody>
      </p:sp>
      <p:pic>
        <p:nvPicPr>
          <p:cNvPr id="9" name="Picture 8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983480"/>
            <a:ext cx="3108960" cy="240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13. 工程落地与当前状态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9494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212529"/>
                </a:solidFill>
                <a:latin typeface="Microsoft YaHei"/>
              </a:rPr>
              <a:t>前端：Streamlit 交互界面，支持问答式任务提交与结果回显。</a:t>
            </a:r>
          </a:p>
          <a:p>
            <a:pPr algn="l"/>
            <a:r>
              <a:rPr sz="1700" b="0">
                <a:solidFill>
                  <a:srgbClr val="212529"/>
                </a:solidFill>
                <a:latin typeface="Microsoft YaHei"/>
              </a:rPr>
              <a:t>后端：LangGraph Supervisor + StructuredTool，连接 GEE/rasterio/geopandas/shapely。</a:t>
            </a:r>
          </a:p>
          <a:p>
            <a:pPr algn="l"/>
            <a:r>
              <a:rPr sz="1700" b="0">
                <a:solidFill>
                  <a:srgbClr val="212529"/>
                </a:solidFill>
                <a:latin typeface="Microsoft YaHei"/>
              </a:rPr>
              <a:t>部署：华为云 ECS（http://139.9.165.59:8501/）。</a:t>
            </a:r>
          </a:p>
          <a:p>
            <a:pPr algn="l"/>
            <a:r>
              <a:rPr sz="1700" b="0">
                <a:solidFill>
                  <a:srgbClr val="212529"/>
                </a:solidFill>
                <a:latin typeface="Microsoft YaHei"/>
              </a:rPr>
              <a:t>运行透明度：回答末尾自动追加 Time cost（灰色小字）。</a:t>
            </a:r>
          </a:p>
          <a:p>
            <a:pPr algn="l"/>
            <a:r>
              <a:rPr sz="1700" b="0">
                <a:solidFill>
                  <a:srgbClr val="212529"/>
                </a:solidFill>
                <a:latin typeface="Microsoft YaHei"/>
              </a:rPr>
              <a:t>数据管理：thread_id 级会话隔离，统一 inputs/outputs。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49039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3291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D1B3F"/>
                </a:solidFill>
                <a:latin typeface="Microsoft YaHei"/>
              </a:rPr>
              <a:t>运行特性</a:t>
            </a:r>
          </a:p>
          <a:p>
            <a:pPr algn="l"/>
            <a:r>
              <a:rPr sz="1500" b="0">
                <a:solidFill>
                  <a:srgbClr val="0D1B3F"/>
                </a:solidFill>
                <a:latin typeface="Microsoft YaHei"/>
              </a:rPr>
              <a:t>结构化工具调用</a:t>
            </a:r>
          </a:p>
          <a:p>
            <a:pPr algn="l"/>
            <a:r>
              <a:rPr sz="1500" b="0">
                <a:solidFill>
                  <a:srgbClr val="0D1B3F"/>
                </a:solidFill>
                <a:latin typeface="Microsoft YaHei"/>
              </a:rPr>
              <a:t>线程级文件隔离</a:t>
            </a:r>
          </a:p>
          <a:p>
            <a:pPr algn="l"/>
            <a:r>
              <a:rPr sz="1500" b="0">
                <a:solidFill>
                  <a:srgbClr val="0D1B3F"/>
                </a:solidFill>
                <a:latin typeface="Microsoft YaHei"/>
              </a:rPr>
              <a:t>失败自动回传重试</a:t>
            </a:r>
          </a:p>
          <a:p>
            <a:pPr algn="l"/>
            <a:r>
              <a:rPr sz="1500" b="0">
                <a:solidFill>
                  <a:srgbClr val="0D1B3F"/>
                </a:solidFill>
                <a:latin typeface="Microsoft YaHei"/>
              </a:rPr>
              <a:t>结果可审计可回放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14. 局限与下一步路线图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40680" cy="4754880"/>
          </a:xfrm>
          <a:prstGeom prst="roundRect">
            <a:avLst/>
          </a:prstGeom>
          <a:solidFill>
            <a:srgbClr val="FFF2F2"/>
          </a:solidFill>
          <a:ln>
            <a:solidFill>
              <a:srgbClr val="D04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80262A"/>
                </a:solidFill>
                <a:latin typeface="Microsoft YaHei"/>
              </a:rPr>
              <a:t>当前局限</a:t>
            </a:r>
          </a:p>
          <a:p>
            <a:pPr algn="l"/>
            <a:r>
              <a:rPr sz="1600" b="0">
                <a:solidFill>
                  <a:srgbClr val="80262A"/>
                </a:solidFill>
                <a:latin typeface="Microsoft YaHei"/>
              </a:rPr>
              <a:t>多智能体通信带来较高 token 成本</a:t>
            </a:r>
          </a:p>
          <a:p>
            <a:pPr algn="l"/>
            <a:r>
              <a:rPr sz="1600" b="0">
                <a:solidFill>
                  <a:srgbClr val="80262A"/>
                </a:solidFill>
                <a:latin typeface="Microsoft YaHei"/>
              </a:rPr>
              <a:t>通用 LLM 在复杂地理代码生成上仍有短板</a:t>
            </a:r>
          </a:p>
          <a:p>
            <a:pPr algn="l"/>
            <a:r>
              <a:rPr sz="1600" b="0">
                <a:solidFill>
                  <a:srgbClr val="80262A"/>
                </a:solidFill>
                <a:latin typeface="Microsoft YaHei"/>
              </a:rPr>
              <a:t>暂不支持直接多模态理解原始 NTL 影像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440680" cy="4754880"/>
          </a:xfrm>
          <a:prstGeom prst="roundRect">
            <a:avLst/>
          </a:prstGeom>
          <a:solidFill>
            <a:srgbClr val="ECF7F2"/>
          </a:solidFill>
          <a:ln>
            <a:solidFill>
              <a:srgbClr val="20A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76C54"/>
                </a:solidFill>
                <a:latin typeface="Microsoft YaHei"/>
              </a:rPr>
              <a:t>下一步方向</a:t>
            </a:r>
          </a:p>
          <a:p>
            <a:pPr algn="l"/>
            <a:r>
              <a:rPr sz="1600" b="0">
                <a:solidFill>
                  <a:srgbClr val="176C54"/>
                </a:solidFill>
                <a:latin typeface="Microsoft YaHei"/>
              </a:rPr>
              <a:t>扩展更多 GEE 数据类型自动路由</a:t>
            </a:r>
          </a:p>
          <a:p>
            <a:pPr algn="l"/>
            <a:r>
              <a:rPr sz="1600" b="0">
                <a:solidFill>
                  <a:srgbClr val="176C54"/>
                </a:solidFill>
                <a:latin typeface="Microsoft YaHei"/>
              </a:rPr>
              <a:t>强化跨数据源一致性校验</a:t>
            </a:r>
          </a:p>
          <a:p>
            <a:pPr algn="l"/>
            <a:r>
              <a:rPr sz="1600" b="0">
                <a:solidFill>
                  <a:srgbClr val="176C54"/>
                </a:solidFill>
                <a:latin typeface="Microsoft YaHei"/>
              </a:rPr>
              <a:t>建设更细粒度任务评测与回归体系</a:t>
            </a:r>
          </a:p>
          <a:p>
            <a:pPr algn="l"/>
            <a:r>
              <a:rPr sz="1600" b="0">
                <a:solidFill>
                  <a:srgbClr val="176C54"/>
                </a:solidFill>
                <a:latin typeface="Microsoft YaHei"/>
              </a:rPr>
              <a:t>探索 NTL 专项多模态模型（MLLM）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Calibri"/>
              </a:rPr>
              <a:t>Sources: NTL-GPT_项目介绍_最新版.docx; TGRS-Manuscrip.docx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A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总结</a:t>
            </a:r>
          </a:p>
          <a:p>
            <a:pPr algn="l"/>
            <a:r>
              <a:rPr sz="2400" b="0">
                <a:solidFill>
                  <a:srgbClr val="D6E8FF"/>
                </a:solidFill>
                <a:latin typeface="Microsoft YaHei"/>
              </a:rPr>
              <a:t>NTL-GPT 让夜间灯光遥感从“可做”走向“可规模化自动完成”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端到端流程自动化：数据 -&gt; 分析 -&gt; 结果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多智能体协作显著提升复杂任务成功率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具备工程级约束与可追溯机制，可直接支撑项目落地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CD7"/>
                </a:solidFill>
                <a:latin typeface="Calibri"/>
              </a:rPr>
              <a:t>Data sources: NTL-GPT_项目介绍_最新版.docx + TGRS-Manuscrip.docx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